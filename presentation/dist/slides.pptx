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a single identity and a single experience, connected to the systems that already hold the records.</a:t>
            </a:r>
            <a:endParaRPr lang="en-US" dirty="0"/>
          </a:p>
          <a:p>
            <a:r>
              <a:rPr lang="en-US" dirty="0"/>
              <a:t>The citizen signs in once. Microsoft Entra External ID is joined to the national electronic IDs through the European eIDAS standard. So we never store a password;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web, phone, and a free phone number,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like an employment contract,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(still inside Europe),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The workflows, the agents, the storage, the database, and the secret vault all sit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App, data, AI and the Logic Apps are also private and in-country.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a Power App today, D365 Customer Service when the licences land.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no new servers. The event bus wires it in.</a:t>
            </a:r>
            <a:endParaRPr lang="en-US" dirty="0"/>
          </a:p>
          <a:p>
            <a:r>
              <a:rPr lang="en-US" dirty="0"/>
              <a:t>And the citizen still finds it. One front door, one search: they type what they need, and the router sends them to the right service,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warmly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and tools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in a register (its purpose, risk and limits),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(the unit you pay for with AI),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thirty thousand people. A regional roll-out: three hundred thousand. And full national scale: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it is three, one per country, each in its own Azure region.</a:t>
            </a:r>
            <a:endParaRPr lang="en-US" dirty="0"/>
          </a:p>
          <a:p>
            <a:r>
              <a:rPr lang="en-US" dirty="0"/>
              <a:t>And Azure prices are not the same in every region. Denmark runs in North Europe (one of the cheapest regions in the EU), our baseline. Sweden runs in Sweden Central, a few percent more. Norway runs in Norway East, a premium region, about twenty percent more expensive on infrastructure.</a:t>
            </a:r>
            <a:endParaRPr lang="en-US" dirty="0"/>
          </a:p>
          <a:p>
            <a:r>
              <a:rPr lang="en-US" dirty="0"/>
              <a:t>So look at the cost per citizen. Norway is the most expensive (three euros and four cents) for two reasons stacked together: the premium region, and the smallest population, so the fixed floor is shared by the fewest people. Denmark is the cheapest. You do not engineer this away;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which is realistic for the Nordics, high-trust and high-adoption.</a:t>
            </a:r>
            <a:endParaRPr lang="en-US" dirty="0"/>
          </a:p>
          <a:p>
            <a:r>
              <a:rPr lang="en-US" dirty="0"/>
              <a:t>Watch the shape. Citizens grow five times (from three million to nearly eighteen), but the bill grows less than twice (from twenty-nine million to fifty-five). Because the fixed floor is built once, for national grade, then shared by an ever-larger crowd.</a:t>
            </a:r>
            <a:endParaRPr lang="en-US" dirty="0"/>
          </a:p>
          <a:p>
            <a:r>
              <a:rPr lang="en-US" dirty="0"/>
              <a:t>So the cost per citizen falls all the way down,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One more thing about scale.</a:t>
            </a:r>
            <a:endParaRPr lang="en-US" dirty="0"/>
          </a:p>
          <a:p>
            <a:r>
              <a:rPr lang="en-US" dirty="0"/>
              <a:t>People ask: if you get almost seven times more users, does the bill grow seven times too?</a:t>
            </a:r>
            <a:endParaRPr lang="en-US" dirty="0"/>
          </a:p>
          <a:p>
            <a:r>
              <a:rPr lang="en-US" dirty="0"/>
              <a:t>No; the reason is that the services do not all grow the same way.</a:t>
            </a:r>
            <a:endParaRPr lang="en-US" dirty="0"/>
          </a:p>
          <a:p>
            <a:r>
              <a:rPr lang="en-US" dirty="0"/>
              <a:t>Some are metered, like every SMS and every email, so they follow the users almost one to one.</a:t>
            </a:r>
            <a:endParaRPr lang="en-US" dirty="0"/>
          </a:p>
          <a:p>
            <a:r>
              <a:rPr lang="en-US" dirty="0"/>
              <a:t>Some are reserved in blocks, like the AI capacity; we size it to the peak, and the small model handles most of the traffic, so it grows much slower.</a:t>
            </a:r>
            <a:endParaRPr lang="en-US" dirty="0"/>
          </a:p>
          <a:p>
            <a:r>
              <a:rPr lang="en-US" dirty="0"/>
              <a:t>And some are just a fixed floor: the firewalls, the gateway, the API gateway, the network, built once for the whole country.</a:t>
            </a:r>
            <a:endParaRPr lang="en-US" dirty="0"/>
          </a:p>
          <a:p>
            <a:r>
              <a:rPr lang="en-US" dirty="0"/>
              <a:t>So when the active users grow almost seven times, the total bill grows only about two times. That is the shape that makes this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large: the reserved AI capacity. The citizen assistant and the eligibility brain. Almost half the bill.</a:t>
            </a:r>
            <a:endParaRPr lang="en-US" dirty="0"/>
          </a:p>
          <a:p>
            <a:r>
              <a:rPr lang="en-US" dirty="0"/>
              <a:t>The next slice is the caseworker licences: the humans who stay accountable for every AI decision.</a:t>
            </a:r>
            <a:endParaRPr lang="en-US" dirty="0"/>
          </a:p>
          <a:p>
            <a:r>
              <a:rPr lang="en-US" dirty="0"/>
              <a:t>Together those two are about two thirds. Both are value, not waste.</a:t>
            </a:r>
            <a:endParaRPr lang="en-US" dirty="0"/>
          </a:p>
          <a:p>
            <a:r>
              <a:rPr lang="en-US" dirty="0"/>
              <a:t>Network, monitoring, data and communications make up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the platform is bigger than the crowd. At national scale, it is the opposite: most cost is now real usage.</a:t>
            </a:r>
            <a:endParaRPr lang="en-US" dirty="0"/>
          </a:p>
          <a:p>
            <a:r>
              <a:rPr lang="en-US" dirty="0"/>
              <a:t>That is exactly what you want: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which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(only minutes for live form drafts)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One last idea, and it is the one I am most excited about.</a:t>
            </a:r>
            <a:endParaRPr lang="en-US" dirty="0"/>
          </a:p>
          <a:p>
            <a:r>
              <a:rPr lang="en-US" dirty="0"/>
              <a:t>Everything so far makes the platform faster when a citizen asks.</a:t>
            </a:r>
            <a:endParaRPr lang="en-US" dirty="0"/>
          </a:p>
          <a:p>
            <a:r>
              <a:rPr lang="en-US" dirty="0"/>
              <a:t>Guardian is about the citizens who never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Here is the uncomfortable truth behind every benefits system.</a:t>
            </a:r>
            <a:endParaRPr lang="en-US" dirty="0"/>
          </a:p>
          <a:p>
            <a:r>
              <a:rPr lang="en-US" dirty="0"/>
              <a:t>Studies across the OECD show that between twenty and sixty percent of eligible people never claim what they are entitled to. It is not fraud, and it is not choice. They simply do not know they qualify, or the process is too hard.</a:t>
            </a:r>
            <a:endParaRPr lang="en-US" dirty="0"/>
          </a:p>
          <a:p>
            <a:r>
              <a:rPr lang="en-US" dirty="0"/>
              <a:t>Today our platform, like every portal, waits for the citizen to know, to find us, and to apply.</a:t>
            </a:r>
            <a:endParaRPr lang="en-US" dirty="0"/>
          </a:p>
          <a:p>
            <a:r>
              <a:rPr lang="en-US" dirty="0"/>
              <a:t>Guardian flips that. It is the step after the European once-only principle, the one people call no-stop-shop: the citizen should not even have to apply. The state notices, and reaches out first.</a:t>
            </a:r>
            <a:endParaRPr lang="en-US" dirty="0"/>
          </a:p>
          <a:p>
            <a:r>
              <a:rPr lang="en-US" dirty="0"/>
              <a:t>Same data, same agents, same rules. The only thing that changes is who starts the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It runs as a loop, on a schedule and on events, and it walks one citizen through seven stages.</a:t>
            </a:r>
            <a:endParaRPr lang="en-US" dirty="0"/>
          </a:p>
          <a:p>
            <a:r>
              <a:rPr lang="en-US" dirty="0"/>
              <a:t>It scans the in-country data for a life event, a birth, a move, a job loss, someone turning sixty-seven.</a:t>
            </a:r>
            <a:endParaRPr lang="en-US" dirty="0"/>
          </a:p>
          <a:p>
            <a:r>
              <a:rPr lang="en-US" dirty="0"/>
              <a:t>It runs the eligibility agent we already have, but in shadow, with no application attached.</a:t>
            </a:r>
            <a:endParaRPr lang="en-US" dirty="0"/>
          </a:p>
          <a:p>
            <a:r>
              <a:rPr lang="en-US" dirty="0"/>
              <a:t>The caseworker helper drafts a short message in the citizen's language. A new critic agent checks the legal basis and the tone, and can send it back.</a:t>
            </a:r>
            <a:endParaRPr lang="en-US" dirty="0"/>
          </a:p>
          <a:p>
            <a:r>
              <a:rPr lang="en-US" dirty="0"/>
              <a:t>Then the hard gate: a human caseworker approves, adjusts, or rejects. Nothing is autonomous past that point.</a:t>
            </a:r>
            <a:endParaRPr lang="en-US" dirty="0"/>
          </a:p>
          <a:p>
            <a:r>
              <a:rPr lang="en-US" dirty="0"/>
              <a:t>Only then does the message go out, on the channels we already have, and every step is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the whole thing on one picture, and the point is how little is new.</a:t>
            </a:r>
            <a:endParaRPr lang="en-US" dirty="0"/>
          </a:p>
          <a:p>
            <a:r>
              <a:rPr lang="en-US" dirty="0"/>
              <a:t>In teal are the only two new pieces: the event scanner that starts the work on its own, and the critic that reviews the draft.</a:t>
            </a:r>
            <a:endParaRPr lang="en-US" dirty="0"/>
          </a:p>
          <a:p>
            <a:r>
              <a:rPr lang="en-US" dirty="0"/>
              <a:t>Everything else is what you have already seen. The high-risk eligibility agent in its sealed enclave, the caseworker helper, the translator. The human gate in Dynamics. The outreach channels we already built for SMS, email, push and voice. And the same governance: consent, the tamper-proof ledger, the AI Act registry.</a:t>
            </a:r>
            <a:endParaRPr lang="en-US" dirty="0"/>
          </a:p>
          <a:p>
            <a:r>
              <a:rPr lang="en-US" dirty="0"/>
              <a:t>Two new agents, one new workflow, one dashboard tile. Everything else is a re-wire. That is why this is credible, not science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 want to be clear on the risk, because reaching out to citizens is exactly what regulators watch.</a:t>
            </a:r>
            <a:endParaRPr lang="en-US" dirty="0"/>
          </a:p>
          <a:p>
            <a:r>
              <a:rPr lang="en-US" dirty="0"/>
              <a:t>Guardian never decides. It proposes, a human approves, and the citizen action stays voluntary, so the automated-decision rules are respected. There is a lawful basis, a one-click opt-out, and a full record in the ledger. The critic exists partly to protect citizens from a wrong or distressing message.</a:t>
            </a:r>
            <a:endParaRPr lang="en-US" dirty="0"/>
          </a:p>
          <a:p>
            <a:r>
              <a:rPr lang="en-US" dirty="0"/>
              <a:t>Done this way, proactive government is not a risk to hide. It is a demonstration of responsible autonomy.</a:t>
            </a:r>
            <a:endParaRPr lang="en-US" dirty="0"/>
          </a:p>
          <a:p>
            <a:r>
              <a:rPr lang="en-US" dirty="0"/>
              <a:t>And it changes the headline. We already went from twenty-eight days to four. Guardian adds a second number a minister cares about: the euros of entitlement we deliver to people who would have been missed. That is the new tile on the executive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2026-07-02T10:01:04Z</dcterms:created>
  <dcterms:modified xsi:type="dcterms:W3CDTF">2026-07-02T10:01:04Z</dcterms:modified>
</cp:coreProperties>
</file>