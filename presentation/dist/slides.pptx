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 — Good morning, everyone — I'm Frederic.</a:t>
            </a:r>
            <a:endParaRPr lang="en-US" dirty="0"/>
          </a:p>
          <a:p>
            <a:r>
              <a:rPr lang="en-US" dirty="0"/>
              <a:t>I'll walk you through UDCSP, the Unified Digital Citizen Services Platform.</a:t>
            </a:r>
            <a:endParaRPr lang="en-US" dirty="0"/>
          </a:p>
          <a:p>
            <a:r>
              <a:rPr lang="en-US" dirty="0"/>
              <a:t>The idea is simple.</a:t>
            </a:r>
            <a:endParaRPr lang="en-US" dirty="0"/>
          </a:p>
          <a:p>
            <a:r>
              <a:rPr lang="en-US" dirty="0"/>
              <a:t>Today, citizens prove who they are and retype the same papers across dozens of systems.</a:t>
            </a:r>
            <a:endParaRPr lang="en-US" dirty="0"/>
          </a:p>
          <a:p>
            <a:r>
              <a:rPr lang="en-US" dirty="0"/>
              <a:t>Instead, we give them one identity and one experience, while the platform connects behind the scenes to share and check what's needed.</a:t>
            </a:r>
            <a:endParaRPr lang="en-US" dirty="0"/>
          </a:p>
          <a:p>
            <a:r>
              <a:rPr lang="en-US" dirty="0"/>
              <a:t>It serves two point one million citizens across Denmark, Sweden and Norway.</a:t>
            </a:r>
            <a:endParaRPr lang="en-US" dirty="0"/>
          </a:p>
          <a:p>
            <a:r>
              <a:rPr lang="en-US" dirty="0"/>
              <a:t>In the next thirty-five minutes I'll cover the problem, the architecture, the AI and the security — including the EU AI Act and GDPR — and then run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0:35 — Before we dive in, one honest framing.</a:t>
            </a:r>
            <a:endParaRPr lang="en-US" dirty="0"/>
          </a:p>
          <a:p>
            <a:r>
              <a:rPr lang="en-US" dirty="0"/>
              <a:t>UDCSP is a production accelerator, not an exhaustive demo.</a:t>
            </a:r>
            <a:endParaRPr lang="en-US" dirty="0"/>
          </a:p>
          <a:p>
            <a:r>
              <a:rPr lang="en-US" dirty="0"/>
              <a:t>What you'll see is a target vision, with a working core you can run on a real Azure tenant today, and a partial live demonstration of it.</a:t>
            </a:r>
            <a:endParaRPr lang="en-US" dirty="0"/>
          </a:p>
          <a:p>
            <a:r>
              <a:rPr lang="en-US" dirty="0"/>
              <a:t>A few bricks are still at blueprint stage — designed and registered, but not yet switched on — and each one has a named gate on the roadmap.</a:t>
            </a:r>
            <a:endParaRPr lang="en-US" dirty="0"/>
          </a:p>
          <a:p>
            <a:r>
              <a:rPr lang="en-US" dirty="0"/>
              <a:t>So every claim in this deck carries one of five honesty labels, and I'll show the full coverage and the roadmap near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Nordic public services are good, but they live in forty-seven separate portals that don't talk to each other.</a:t>
            </a:r>
            <a:endParaRPr lang="en-US" dirty="0"/>
          </a:p>
          <a:p>
            <a:r>
              <a:rPr lang="en-US" dirty="0"/>
              <a:t>The real problem is that your identity and your information don't travel with you — every system asks again who you are and makes you re-enter the same papers.</a:t>
            </a:r>
            <a:endParaRPr lang="en-US" dirty="0"/>
          </a:p>
          <a:p>
            <a:r>
              <a:rPr lang="en-US" dirty="0"/>
              <a:t>So when someone moves between countries, they wait around twenty-eight days for a residency decision, often on a portal that doesn't speak their language.</a:t>
            </a:r>
            <a:endParaRPr lang="en-US" dirty="0"/>
          </a:p>
          <a:p>
            <a:r>
              <a:rPr lang="en-US" dirty="0"/>
              <a:t>Our answer is one unified identity and one experience, connected to the systems that already hold the records, so information is shared and checked instead of re-collected.</a:t>
            </a:r>
            <a:endParaRPr lang="en-US" dirty="0"/>
          </a:p>
          <a:p>
            <a:r>
              <a:rPr lang="en-US" dirty="0"/>
              <a:t>The rule we set: we don't replace the national authorities, we connect to them.</a:t>
            </a:r>
            <a:endParaRPr lang="en-US" dirty="0"/>
          </a:p>
          <a:p>
            <a:r>
              <a:rPr lang="en-US" dirty="0"/>
              <a:t>That means private networking, every piece of personal data tracked in Microsoft Purview, and eight European laws like GDPR and the EU AI Act mapped to real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Before writing any code, we decided who we were building for — not a generic user, but nine concrete roles we kept in front of us the whole time.</a:t>
            </a:r>
            <a:endParaRPr lang="en-US" dirty="0"/>
          </a:p>
          <a:p>
            <a:r>
              <a:rPr lang="en-US" dirty="0"/>
              <a:t>Four are citizens: one who moves between countries, one who is blind and works by voice, one who uses a screen reader in her own language, and one who does everything from a phone.</a:t>
            </a:r>
            <a:endParaRPr lang="en-US" dirty="0"/>
          </a:p>
          <a:p>
            <a:r>
              <a:rPr lang="en-US" dirty="0"/>
              <a:t>Then the caseworker, who keeps the final human decision.</a:t>
            </a:r>
            <a:endParaRPr lang="en-US" dirty="0"/>
          </a:p>
          <a:p>
            <a:r>
              <a:rPr lang="en-US" dirty="0"/>
              <a:t>A privacy officer, whose questions we answer by tracking every piece of personal data in Microsoft Purview, and a security lead, who is why the whole platform runs on private networks.</a:t>
            </a:r>
            <a:endParaRPr lang="en-US" dirty="0"/>
          </a:p>
          <a:p>
            <a:r>
              <a:rPr lang="en-US" dirty="0"/>
              <a:t>And a leader who needs results, and an operator who keeps it running.</a:t>
            </a:r>
            <a:endParaRPr lang="en-US" dirty="0"/>
          </a:p>
          <a:p>
            <a:r>
              <a:rPr lang="en-US" dirty="0"/>
              <a:t>Each one drove a real design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The first and biggest choice was this.</a:t>
            </a:r>
            <a:endParaRPr lang="en-US" dirty="0"/>
          </a:p>
          <a:p>
            <a:r>
              <a:rPr lang="en-US" dirty="0"/>
              <a:t>We could have built yet another portal on the pile — instead we unified the one thing that was missing, a single identity and a single experience, and connected it to the systems that already hold the records.</a:t>
            </a:r>
            <a:endParaRPr lang="en-US" dirty="0"/>
          </a:p>
          <a:p>
            <a:r>
              <a:rPr lang="en-US" dirty="0"/>
              <a:t>Concretely, the citizen signs in once through identity federation.</a:t>
            </a:r>
            <a:endParaRPr lang="en-US" dirty="0"/>
          </a:p>
          <a:p>
            <a:r>
              <a:rPr lang="en-US" dirty="0"/>
              <a:t>Microsoft Entra External ID is joined to the national electronic IDs over the European eIDAS standard.</a:t>
            </a:r>
            <a:endParaRPr lang="en-US" dirty="0"/>
          </a:p>
          <a:p>
            <a:r>
              <a:rPr lang="en-US" dirty="0"/>
              <a:t>So we never store a password, and we trust each country's own login.</a:t>
            </a:r>
            <a:endParaRPr lang="en-US" dirty="0"/>
          </a:p>
          <a:p>
            <a:r>
              <a:rPr lang="en-US" dirty="0"/>
              <a:t>From there, Azure Logic Apps connectors talk to each authority — they pre-fill the right national form, submit it, and read the status back.</a:t>
            </a:r>
            <a:endParaRPr lang="en-US" dirty="0"/>
          </a:p>
          <a:p>
            <a:r>
              <a:rPr lang="en-US" dirty="0"/>
              <a:t>borger.dk, Skatteverket and NAV still hold the records and still make the decision: we own the experience, they own the case.</a:t>
            </a:r>
            <a:endParaRPr lang="en-US" dirty="0"/>
          </a:p>
          <a:p>
            <a:r>
              <a:rPr lang="en-US" dirty="0"/>
              <a:t>Everything else in this talk follows from that one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0:24 — So this is what it looks like for the citizen.</a:t>
            </a:r>
            <a:endParaRPr lang="en-US" dirty="0"/>
          </a:p>
          <a:p>
            <a:r>
              <a:rPr lang="en-US" dirty="0"/>
              <a:t>One home, in their own language, with every service as a simple card, and a help assistant always one click away.</a:t>
            </a:r>
            <a:endParaRPr lang="en-US" dirty="0"/>
          </a:p>
          <a:p>
            <a:r>
              <a:rPr lang="en-US" dirty="0"/>
              <a:t>They sign in once with their national eID, and the page already greets them by name — no re-typing, and no choosing between forty-seven different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And behind that calm home page, this is what's actually happening.</a:t>
            </a:r>
            <a:endParaRPr lang="en-US" dirty="0"/>
          </a:p>
          <a:p>
            <a:r>
              <a:rPr lang="en-US" dirty="0"/>
              <a:t>The platform sits in the middle and connects to the registers, the electronic IDs and the case systems of all three countries — borger.dk, Skatteverket, NAV, and the rest.</a:t>
            </a:r>
            <a:endParaRPr lang="en-US" dirty="0"/>
          </a:p>
          <a:p>
            <a:r>
              <a:rPr lang="en-US" dirty="0"/>
              <a:t>We collect the citizen's data once, check the cross-border rules, pre-fill the right national form, and submit it to the competent authority.</a:t>
            </a:r>
            <a:endParaRPr lang="en-US" dirty="0"/>
          </a:p>
          <a:p>
            <a:r>
              <a:rPr lang="en-US" dirty="0"/>
              <a:t>They keep their data; we keep the experience.</a:t>
            </a:r>
            <a:endParaRPr lang="en-US" dirty="0"/>
          </a:p>
          <a:p>
            <a:r>
              <a:rPr lang="en-US" dirty="0"/>
              <a:t>But first it has to work out which country each request belongs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 — That single door raises a question: how does it know which country and which authority a request belongs to?</a:t>
            </a:r>
            <a:endParaRPr lang="en-US" dirty="0"/>
          </a:p>
          <a:p>
            <a:r>
              <a:rPr lang="en-US" dirty="0"/>
              <a:t>It uses the citizen's national electronic identity, their eID — MitID in Denmark, BankID in Sweden, ID-porten in Norway.</a:t>
            </a:r>
            <a:endParaRPr lang="en-US" dirty="0"/>
          </a:p>
          <a:p>
            <a:r>
              <a:rPr lang="en-US" dirty="0"/>
              <a:t>From that identity plus the published cross-border rules, it works out who owns the request and routes it there over a private connection, never the open internet.</a:t>
            </a:r>
            <a:endParaRPr lang="en-US" dirty="0"/>
          </a:p>
          <a:p>
            <a:r>
              <a:rPr lang="en-US" dirty="0"/>
              <a:t>Those rules come from official sources like Info Norden and the European Single Digital Gateway, so routing follows public policy, not logic we made up.</a:t>
            </a:r>
            <a:endParaRPr lang="en-US" dirty="0"/>
          </a:p>
          <a:p>
            <a:r>
              <a:rPr lang="en-US" dirty="0"/>
              <a:t>Now let's see what the door actually became.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 — It became three things.</a:t>
            </a:r>
            <a:endParaRPr lang="en-US" dirty="0"/>
          </a:p>
          <a:p>
            <a:r>
              <a:rPr lang="en-US" dirty="0"/>
              <a:t>First, one app reachable three ways — web, phone, and a free phone number — in twelve languages.</a:t>
            </a:r>
            <a:endParaRPr lang="en-US" dirty="0"/>
          </a:p>
          <a:p>
            <a:r>
              <a:rPr lang="en-US" dirty="0"/>
              <a:t>Second, behind it, what we call the brain: one coordinator and six specialist agents — seven in all — on Azure AI Foundry.</a:t>
            </a:r>
            <a:endParaRPr lang="en-US" dirty="0"/>
          </a:p>
          <a:p>
            <a:r>
              <a:rPr lang="en-US" dirty="0"/>
              <a:t>That is Microsoft's platform for building and governing AI.</a:t>
            </a:r>
            <a:endParaRPr lang="en-US" dirty="0"/>
          </a:p>
          <a:p>
            <a:r>
              <a:rPr lang="en-US" dirty="0"/>
              <a:t>Third, a real change in outcome — a cross-border residency case now takes about four days instead of twenty-eight, with each country's AI and data staying inside its borders.</a:t>
            </a:r>
            <a:endParaRPr lang="en-US" dirty="0"/>
          </a:p>
          <a:p>
            <a:r>
              <a:rPr lang="en-US" dirty="0"/>
              <a:t>Now let's touch the part the citizen actually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0:28 — So let's actually touch it.</a:t>
            </a:r>
            <a:endParaRPr lang="en-US" dirty="0"/>
          </a:p>
          <a:p>
            <a:r>
              <a:rPr lang="en-US" dirty="0"/>
              <a:t>This is the guided application.</a:t>
            </a:r>
            <a:endParaRPr lang="en-US" dirty="0"/>
          </a:p>
          <a:p>
            <a:r>
              <a:rPr lang="en-US" dirty="0"/>
              <a:t>Look at the steps along the top — your move, identity already pre-filled, documents, eligibility, cross-border consent, and submit.</a:t>
            </a:r>
            <a:endParaRPr lang="en-US" dirty="0"/>
          </a:p>
          <a:p>
            <a:r>
              <a:rPr lang="en-US" dirty="0"/>
              <a:t>Because the citizen signed in with their eID, the identity step is already done; they never retype what the country already knows.</a:t>
            </a:r>
            <a:endParaRPr lang="en-US" dirty="0"/>
          </a:p>
          <a:p>
            <a:r>
              <a:rPr lang="en-US" dirty="0"/>
              <a:t>They just add what's new, here an employment contract, and the platform reads it for them.</a:t>
            </a:r>
            <a:endParaRPr lang="en-US" dirty="0"/>
          </a:p>
          <a:p>
            <a:r>
              <a:rPr lang="en-US" dirty="0"/>
              <a:t>Let me step back and show you that whole surface, and the one detail on it that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 — What the citizen sees is one web app — the same code on a laptop and a phone — with a help assistant in the corner and accessibility built in for screen-reader users.</a:t>
            </a:r>
            <a:endParaRPr lang="en-US" dirty="0"/>
          </a:p>
          <a:p>
            <a:r>
              <a:rPr lang="en-US" dirty="0"/>
              <a:t>But one detail matters more than the rest.</a:t>
            </a:r>
            <a:endParaRPr lang="en-US" dirty="0"/>
          </a:p>
          <a:p>
            <a:r>
              <a:rPr lang="en-US" dirty="0"/>
              <a:t>On every application page, the citizen sees the AI's assessment before they consent: its confidence, the evidence for each rule, and anything that's still missing.</a:t>
            </a:r>
            <a:endParaRPr lang="en-US" dirty="0"/>
          </a:p>
          <a:p>
            <a:r>
              <a:rPr lang="en-US" dirty="0"/>
              <a:t>Nothing is hidden.</a:t>
            </a:r>
            <a:endParaRPr lang="en-US" dirty="0"/>
          </a:p>
          <a:p>
            <a:r>
              <a:rPr lang="en-US" dirty="0"/>
              <a:t>That's the surface; now let me take you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0:12 — Behind that simple door is where most of the engineering sits.</a:t>
            </a:r>
            <a:endParaRPr lang="en-US" dirty="0"/>
          </a:p>
          <a:p>
            <a:r>
              <a:rPr lang="en-US" dirty="0"/>
              <a:t>Two ideas hold the architecture together: keep every country sovereign, and keep the whole path private, from the first click to the caseworker.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At the highest level, the shape is this: one experience on top for the citizen, and underneath three separate back-offices, one per country, that never mix.</a:t>
            </a:r>
            <a:endParaRPr lang="en-US" dirty="0"/>
          </a:p>
          <a:p>
            <a:r>
              <a:rPr lang="en-US" dirty="0"/>
              <a:t>The brain is copied into all three, so an AI call in Denmark stays in Denmark.</a:t>
            </a:r>
            <a:endParaRPr lang="en-US" dirty="0"/>
          </a:p>
          <a:p>
            <a:r>
              <a:rPr lang="en-US" dirty="0"/>
              <a:t>The only bridge to the national authorities runs through a single guarded gateway, and we'll come back to exactly how that bridge works.</a:t>
            </a:r>
            <a:endParaRPr lang="en-US" dirty="0"/>
          </a:p>
          <a:p>
            <a:r>
              <a:rPr lang="en-US" dirty="0"/>
              <a:t>So it looks like one website from outside, but inside each country is a sealed world.</a:t>
            </a:r>
            <a:endParaRPr lang="en-US" dirty="0"/>
          </a:p>
          <a:p>
            <a:r>
              <a:rPr lang="en-US" dirty="0"/>
              <a:t>Let me zoom into one of those countries.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0:55 — Each country gets its own Azure region, its own private network, its own identity system, and its own AI hub.</a:t>
            </a:r>
            <a:endParaRPr lang="en-US" dirty="0"/>
          </a:p>
          <a:p>
            <a:r>
              <a:rPr lang="en-US" dirty="0"/>
              <a:t>Denmark runs in North Europe, Sweden in Sweden Central, Norway in Norway East, and no AI call crosses a border.</a:t>
            </a:r>
            <a:endParaRPr lang="en-US" dirty="0"/>
          </a:p>
          <a:p>
            <a:r>
              <a:rPr lang="en-US" dirty="0"/>
              <a:t>Inside each hub we don't use one model for everything; we match the model to the job — a fast one sorts, a stronger one decides, and a real-time one handles live speech on the phone.</a:t>
            </a:r>
            <a:endParaRPr lang="en-US" dirty="0"/>
          </a:p>
          <a:p>
            <a:r>
              <a:rPr lang="en-US" dirty="0"/>
              <a:t>The model names sit in one settings file, so changing region is a one-line edit.</a:t>
            </a:r>
            <a:endParaRPr lang="en-US" dirty="0"/>
          </a:p>
          <a:p>
            <a:r>
              <a:rPr lang="en-US" dirty="0"/>
              <a:t>One honest exception: real-time speech isn't in Norway yet, so Norwegian calls use the Swedish hub for now, still inside Europe, and one setting will bring it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0:55 — Now to that promise that the whole path is private, because it works as a chain.</a:t>
            </a:r>
            <a:endParaRPr lang="en-US" dirty="0"/>
          </a:p>
          <a:p>
            <a:r>
              <a:rPr lang="en-US" dirty="0"/>
              <a:t>The only public entry is Azure Front Door, with a web firewall in front; nothing else has a public address.</a:t>
            </a:r>
            <a:endParaRPr lang="en-US" dirty="0"/>
          </a:p>
          <a:p>
            <a:r>
              <a:rPr lang="en-US" dirty="0"/>
              <a:t>Behind it a private gateway checks the token, and everything further in — the workflows, the agents, the storage, the database, the secret vault — sits off the internet on private connections.</a:t>
            </a:r>
            <a:endParaRPr lang="en-US" dirty="0"/>
          </a:p>
          <a:p>
            <a:r>
              <a:rPr lang="en-US" dirty="0"/>
              <a:t>For analytics we never copy the real records out; we send only numbers, so the raw data stays home.</a:t>
            </a:r>
            <a:endParaRPr lang="en-US" dirty="0"/>
          </a:p>
          <a:p>
            <a:r>
              <a:rPr lang="en-US" dirty="0"/>
              <a:t>So from the first click to the caseworker's queue, nothing travels in the open, and it's encrypted the whole way.</a:t>
            </a:r>
            <a:endParaRPr lang="en-US" dirty="0"/>
          </a:p>
          <a:p>
            <a:r>
              <a:rPr lang="en-US" dirty="0"/>
              <a:t>And the one piece that actually reaches the outside world deserves its own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That piece is the integration plane, and it runs on Azure Logic Apps.</a:t>
            </a:r>
            <a:endParaRPr lang="en-US" dirty="0"/>
          </a:p>
          <a:p>
            <a:r>
              <a:rPr lang="en-US" dirty="0"/>
              <a:t>A Logic App is simply a workflow — a sequence of steps the platform runs for the citizen — and here each one pre-fills the right national form, submits it to the competent authority, and reads the decision back.</a:t>
            </a:r>
            <a:endParaRPr lang="en-US" dirty="0"/>
          </a:p>
          <a:p>
            <a:r>
              <a:rPr lang="en-US" dirty="0"/>
              <a:t>The portal never calls a ministry directly; the Logic App does, and it writes every case into Dynamics 365, our case system of record.</a:t>
            </a:r>
            <a:endParaRPr lang="en-US" dirty="0"/>
          </a:p>
          <a:p>
            <a:r>
              <a:rPr lang="en-US" dirty="0"/>
              <a:t>It's private by design: in production the workflows are VNet-integrated, so they live on the country's own private network, and they reach each authority over mutual TLS, where both sides show a certificate before any data moves.</a:t>
            </a:r>
            <a:endParaRPr lang="en-US" dirty="0"/>
          </a:p>
          <a:p>
            <a:r>
              <a:rPr lang="en-US" dirty="0"/>
              <a:t>And it's event-driven: a message on Service Bus or Event Grid triggers the right workflow, while the private API gateway stays the only token-checked way in.</a:t>
            </a:r>
            <a:endParaRPr lang="en-US" dirty="0"/>
          </a:p>
          <a:p>
            <a:r>
              <a:rPr lang="en-US" dirty="0"/>
              <a:t>There is one plane like this per country — and that whole private network looks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 — Before the detailed map, here is the simple idea.</a:t>
            </a:r>
            <a:endParaRPr lang="en-US" dirty="0"/>
          </a:p>
          <a:p>
            <a:r>
              <a:rPr lang="en-US" dirty="0"/>
              <a:t>There is one shared front door and one user interface, so the citizen always sees the same portal.</a:t>
            </a:r>
            <a:endParaRPr lang="en-US" dirty="0"/>
          </a:p>
          <a:p>
            <a:r>
              <a:rPr lang="en-US" dirty="0"/>
              <a:t>But for sovereignty, each country has its own private front-end origin: a Static Web App whose public access is off, reached only through a private endpoint that lives in the country's web subnet.</a:t>
            </a:r>
            <a:endParaRPr lang="en-US" dirty="0"/>
          </a:p>
          <a:p>
            <a:r>
              <a:rPr lang="en-US" dirty="0"/>
              <a:t>So the web subnet you'll see in each spoke is just that private door to the front-end, not a second copy of the whole application.</a:t>
            </a:r>
            <a:endParaRPr lang="en-US" dirty="0"/>
          </a:p>
          <a:p>
            <a:r>
              <a:rPr lang="en-US" dirty="0"/>
              <a:t>Everything else — app, data, AI and the Logic Apps — is private and in-country too.</a:t>
            </a:r>
            <a:endParaRPr lang="en-US" dirty="0"/>
          </a:p>
          <a:p>
            <a:r>
              <a:rPr lang="en-US" dirty="0"/>
              <a:t>A shared hub handles the firewall, the private DNS, cross-border routing and monitoring.</a:t>
            </a:r>
            <a:endParaRPr lang="en-US" dirty="0"/>
          </a:p>
          <a:p>
            <a:r>
              <a:rPr lang="en-US" dirty="0"/>
              <a:t>To get this right, we leaned on patterns the industry already trusts — the full network map is in the annex.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Six patterns shaped the platform.</a:t>
            </a:r>
            <a:endParaRPr lang="en-US" dirty="0"/>
          </a:p>
          <a:p>
            <a:r>
              <a:rPr lang="en-US" dirty="0"/>
              <a:t>On the phone, the AI decides for itself when to look something up or hand the call to a human.</a:t>
            </a:r>
            <a:endParaRPr lang="en-US" dirty="0"/>
          </a:p>
          <a:p>
            <a:r>
              <a:rPr lang="en-US" dirty="0"/>
              <a:t>A cross-border case runs as a series of steps that can undo themselves if one fails, so a request never gets stuck half-done.</a:t>
            </a:r>
            <a:endParaRPr lang="en-US" dirty="0"/>
          </a:p>
          <a:p>
            <a:r>
              <a:rPr lang="en-US" dirty="0"/>
              <a:t>Dynamics 365 stays the single source of truth for every case, and we can swap pieces of it later without breaking anything.</a:t>
            </a:r>
            <a:endParaRPr lang="en-US" dirty="0"/>
          </a:p>
          <a:p>
            <a:r>
              <a:rPr lang="en-US" dirty="0"/>
              <a:t>And if a national service goes down, a safety switch sends the citizen to a human queue instead of an error.</a:t>
            </a:r>
            <a:endParaRPr lang="en-US" dirty="0"/>
          </a:p>
          <a:p>
            <a:r>
              <a:rPr lang="en-US" dirty="0"/>
              <a:t>None of this is exotic; it's proven patterns, applied with care.</a:t>
            </a:r>
            <a:endParaRPr lang="en-US" dirty="0"/>
          </a:p>
          <a:p>
            <a:r>
              <a:rPr lang="en-US" dirty="0"/>
              <a:t>With the body of the platform covered, let's look at its mind.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0:12 — At the centre of everything is the part we call the brain.</a:t>
            </a:r>
            <a:endParaRPr lang="en-US" dirty="0"/>
          </a:p>
          <a:p>
            <a:r>
              <a:rPr lang="en-US" dirty="0"/>
              <a:t>This is where the AI lives, and it's built as one governed system, not a pile of separate chatbots.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At the centre of everything is one governed brain.</a:t>
            </a:r>
            <a:endParaRPr lang="en-US" dirty="0"/>
          </a:p>
          <a:p>
            <a:r>
              <a:rPr lang="en-US" dirty="0"/>
              <a:t>Every AI request passes through a single place: Azure AI Foundry, Microsoft's platform for building and running AI agents.</a:t>
            </a:r>
            <a:endParaRPr lang="en-US" dirty="0"/>
          </a:p>
          <a:p>
            <a:r>
              <a:rPr lang="en-US" dirty="0"/>
              <a:t>So the safety checks, the quality checks, the tracing and the AI Act records all happen in one spot, instead of being scattered around.</a:t>
            </a:r>
            <a:endParaRPr lang="en-US" dirty="0"/>
          </a:p>
          <a:p>
            <a:r>
              <a:rPr lang="en-US" dirty="0"/>
              <a:t>Inside, a coordinator we call the Topic Router reads each request and hands the work to the right specialist.</a:t>
            </a:r>
            <a:endParaRPr lang="en-US" dirty="0"/>
          </a:p>
          <a:p>
            <a:r>
              <a:rPr lang="en-US" dirty="0"/>
              <a:t>And because the whole brain is copied into each country, the conversation stays home, just like the data.</a:t>
            </a:r>
            <a:endParaRPr lang="en-US" dirty="0"/>
          </a:p>
          <a:p>
            <a:r>
              <a:rPr lang="en-US" dirty="0"/>
              <a:t>Let me show you how the pieces actually fit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Here is the same brain, end to end.</a:t>
            </a:r>
            <a:endParaRPr lang="en-US" dirty="0"/>
          </a:p>
          <a:p>
            <a:r>
              <a:rPr lang="en-US" dirty="0"/>
              <a:t>Every channel comes in on the left — the website, the phone, the mobile app, the chat, even the caseworker's own screen.</a:t>
            </a:r>
            <a:endParaRPr lang="en-US" dirty="0"/>
          </a:p>
          <a:p>
            <a:r>
              <a:rPr lang="en-US" dirty="0"/>
              <a:t>They all enter through one door: the API Management gateway.</a:t>
            </a:r>
            <a:endParaRPr lang="en-US" dirty="0"/>
          </a:p>
          <a:p>
            <a:r>
              <a:rPr lang="en-US" dirty="0"/>
              <a:t>It handles sign-in, rate limits and the audit log, so no channel ever calls a model on its own.</a:t>
            </a:r>
            <a:endParaRPr lang="en-US" dirty="0"/>
          </a:p>
          <a:p>
            <a:r>
              <a:rPr lang="en-US" dirty="0"/>
              <a:t>From there, every message is scanned by Content Safety, on the way in and on the way out.</a:t>
            </a:r>
            <a:endParaRPr lang="en-US" dirty="0"/>
          </a:p>
          <a:p>
            <a:r>
              <a:rPr lang="en-US" dirty="0"/>
              <a:t>Then the Topic Router picks the right specialist for the job.</a:t>
            </a:r>
            <a:endParaRPr lang="en-US" dirty="0"/>
          </a:p>
          <a:p>
            <a:r>
              <a:rPr lang="en-US" dirty="0"/>
              <a:t>One of them, the eligibility agent, is the only high-risk part under the EU AI Act, so it runs in a sealed enclave with a tamper-proof record — I'll come back to exactly why.</a:t>
            </a:r>
            <a:endParaRPr lang="en-US" dirty="0"/>
          </a:p>
          <a:p>
            <a:r>
              <a:rPr lang="en-US" dirty="0"/>
              <a:t>The agents that answer questions only quote official sources, and the whole conversation is traced for later.</a:t>
            </a:r>
            <a:endParaRPr lang="en-US" dirty="0"/>
          </a:p>
          <a:p>
            <a:r>
              <a:rPr lang="en-US" dirty="0"/>
              <a:t>Now let me trace one real request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0:55 — Now that one request, step by step.</a:t>
            </a:r>
            <a:endParaRPr lang="en-US" dirty="0"/>
          </a:p>
          <a:p>
            <a:r>
              <a:rPr lang="en-US" dirty="0"/>
              <a:t>The router has already read the intent and the language, so here it just chooses who does the work.</a:t>
            </a:r>
            <a:endParaRPr lang="en-US" dirty="0"/>
          </a:p>
          <a:p>
            <a:r>
              <a:rPr lang="en-US" dirty="0"/>
              <a:t>A payslip goes to the document reader, which pulls out the numbers.</a:t>
            </a:r>
            <a:endParaRPr lang="en-US" dirty="0"/>
          </a:p>
          <a:p>
            <a:r>
              <a:rPr lang="en-US" dirty="0"/>
              <a:t>A general question goes to the assistant, which answers only from official, cited sources, never from imagination.</a:t>
            </a:r>
            <a:endParaRPr lang="en-US" dirty="0"/>
          </a:p>
          <a:p>
            <a:r>
              <a:rPr lang="en-US" dirty="0"/>
              <a:t>A residency case goes to the eligibility agent, which proposes an answer with the reason for every rule it applied.</a:t>
            </a:r>
            <a:endParaRPr lang="en-US" dirty="0"/>
          </a:p>
          <a:p>
            <a:r>
              <a:rPr lang="en-US" dirty="0"/>
              <a:t>Whatever comes back carries a trace number and its sources, so it can always be explained later.</a:t>
            </a:r>
            <a:endParaRPr lang="en-US" dirty="0"/>
          </a:p>
          <a:p>
            <a:r>
              <a:rPr lang="en-US" dirty="0"/>
              <a:t>That trace number will come up again in the compliance section.</a:t>
            </a:r>
            <a:endParaRPr lang="en-US" dirty="0"/>
          </a:p>
          <a:p>
            <a:r>
              <a:rPr lang="en-US" dirty="0"/>
              <a:t>First, let me show you the agents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0:55 — There are seven agents in all, and the law treats them differently.</a:t>
            </a:r>
            <a:endParaRPr lang="en-US" dirty="0"/>
          </a:p>
          <a:p>
            <a:r>
              <a:rPr lang="en-US" dirty="0"/>
              <a:t>Most only sort, translate, or answer from public information, so under the European AI Act they count as limited risk.</a:t>
            </a:r>
            <a:endParaRPr lang="en-US" dirty="0"/>
          </a:p>
          <a:p>
            <a:r>
              <a:rPr lang="en-US" dirty="0"/>
              <a:t>One does not: the agent that pre-assesses eligibility.</a:t>
            </a:r>
            <a:endParaRPr lang="en-US" dirty="0"/>
          </a:p>
          <a:p>
            <a:r>
              <a:rPr lang="en-US" dirty="0"/>
              <a:t>Because it affects access to an essential public service, the AI Act classes it as high risk.</a:t>
            </a:r>
            <a:endParaRPr lang="en-US" dirty="0"/>
          </a:p>
          <a:p>
            <a:r>
              <a:rPr lang="en-US" dirty="0"/>
              <a:t>So we handle it differently from the rest, because it runs in a sealed, protected enclave, and every answer it gives is written to a record that can't be altered.</a:t>
            </a:r>
            <a:endParaRPr lang="en-US" dirty="0"/>
          </a:p>
          <a:p>
            <a:r>
              <a:rPr lang="en-US" dirty="0"/>
              <a:t>And it never has the final word.</a:t>
            </a:r>
            <a:endParaRPr lang="en-US" dirty="0"/>
          </a:p>
          <a:p>
            <a:r>
              <a:rPr lang="en-US" dirty="0"/>
              <a:t>Whatever it proposes is only a suggestion to the caseworker, who confirms it, changes it, or rejects it.</a:t>
            </a:r>
            <a:endParaRPr lang="en-US" dirty="0"/>
          </a:p>
          <a:p>
            <a:r>
              <a:rPr lang="en-US" dirty="0"/>
              <a:t>One agent deserves a closer look, because it shows the AI acting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0:55 — That's the voice channel, the one a blind citizen uses by phone.</a:t>
            </a:r>
            <a:endParaRPr lang="en-US" dirty="0"/>
          </a:p>
          <a:p>
            <a:r>
              <a:rPr lang="en-US" dirty="0"/>
              <a:t>The call lands on Azure Communication Services, and we open a live, two-way audio link to a speech model.</a:t>
            </a:r>
            <a:endParaRPr lang="en-US" dirty="0"/>
          </a:p>
          <a:p>
            <a:r>
              <a:rPr lang="en-US" dirty="0"/>
              <a:t>From there, the model runs the conversation itself.</a:t>
            </a:r>
            <a:endParaRPr lang="en-US" dirty="0"/>
          </a:p>
          <a:p>
            <a:r>
              <a:rPr lang="en-US" dirty="0"/>
              <a:t>When it needs information, it decides, on its own, to call into the brain.</a:t>
            </a:r>
            <a:endParaRPr lang="en-US" dirty="0"/>
          </a:p>
          <a:p>
            <a:r>
              <a:rPr lang="en-US" dirty="0"/>
              <a:t>And when the caller needs a person, it decides, on its own, to transfer them, warmly, to a human.</a:t>
            </a:r>
            <a:endParaRPr lang="en-US" dirty="0"/>
          </a:p>
          <a:p>
            <a:r>
              <a:rPr lang="en-US" dirty="0"/>
              <a:t>We didn't script that with rigid rules; the model chooses turn by turn.</a:t>
            </a:r>
            <a:endParaRPr lang="en-US" dirty="0"/>
          </a:p>
          <a:p>
            <a:r>
              <a:rPr lang="en-US" dirty="0"/>
              <a:t>It's the direction the whole industry is moving, and here it already works on a real phone line you could call today.</a:t>
            </a:r>
            <a:endParaRPr lang="en-US" dirty="0"/>
          </a:p>
          <a:p>
            <a:r>
              <a:rPr lang="en-US" dirty="0"/>
              <a:t>Because that eligibility agent carries real weight, its model needs special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0:55 — We don't just deploy a new version of it and hope.</a:t>
            </a:r>
            <a:endParaRPr lang="en-US" dirty="0"/>
          </a:p>
          <a:p>
            <a:r>
              <a:rPr lang="en-US" dirty="0"/>
              <a:t>A new version first runs silently beside the old one, on a small slice of traffic, with no effect on real citizens, until we're sure it's better.</a:t>
            </a:r>
            <a:endParaRPr lang="en-US" dirty="0"/>
          </a:p>
          <a:p>
            <a:r>
              <a:rPr lang="en-US" dirty="0"/>
              <a:t>We test it in all twelve languages, and if even one is weaker, it doesn't ship.</a:t>
            </a:r>
            <a:endParaRPr lang="en-US" dirty="0"/>
          </a:p>
          <a:p>
            <a:r>
              <a:rPr lang="en-US" dirty="0"/>
              <a:t>Every day we check whether the data has shifted under it, and any shift raises an alarm.</a:t>
            </a:r>
            <a:endParaRPr lang="en-US" dirty="0"/>
          </a:p>
          <a:p>
            <a:r>
              <a:rPr lang="en-US" dirty="0"/>
              <a:t>Over a month, we check it treats people fairly across age, place, and channel.</a:t>
            </a:r>
            <a:endParaRPr lang="en-US" dirty="0"/>
          </a:p>
          <a:p>
            <a:r>
              <a:rPr lang="en-US" dirty="0"/>
              <a:t>And if anything ever goes wrong, we roll back to the previous version in seconds, with a full record.</a:t>
            </a:r>
            <a:endParaRPr lang="en-US" dirty="0"/>
          </a:p>
          <a:p>
            <a:r>
              <a:rPr lang="en-US" dirty="0"/>
              <a:t>Beyond any single agent, these agents also work together as a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This is what makes it more than one chatbot.</a:t>
            </a:r>
            <a:endParaRPr lang="en-US" dirty="0"/>
          </a:p>
          <a:p>
            <a:r>
              <a:rPr lang="en-US" dirty="0"/>
              <a:t>The router hands work off to the specialists.</a:t>
            </a:r>
            <a:endParaRPr lang="en-US" dirty="0"/>
          </a:p>
          <a:p>
            <a:r>
              <a:rPr lang="en-US" dirty="0"/>
              <a:t>A helper reviews the eligibility answer, like a second pair of eyes on the first.</a:t>
            </a:r>
            <a:endParaRPr lang="en-US" dirty="0"/>
          </a:p>
          <a:p>
            <a:r>
              <a:rPr lang="en-US" dirty="0"/>
              <a:t>A cross-border case moves through clear stages and can step backwards when needed.</a:t>
            </a:r>
            <a:endParaRPr lang="en-US" dirty="0"/>
          </a:p>
          <a:p>
            <a:r>
              <a:rPr lang="en-US" dirty="0"/>
              <a:t>On the phone, the model reaches for tools and for humans.</a:t>
            </a:r>
            <a:endParaRPr lang="en-US" dirty="0"/>
          </a:p>
          <a:p>
            <a:r>
              <a:rPr lang="en-US" dirty="0"/>
              <a:t>And every model change is tested in the shadows before it goes live.</a:t>
            </a:r>
            <a:endParaRPr lang="en-US" dirty="0"/>
          </a:p>
          <a:p>
            <a:r>
              <a:rPr lang="en-US" dirty="0"/>
              <a:t>Hand-off, review, stages, tools, those are the building blocks of real agent teamwork, and they're all here.</a:t>
            </a:r>
            <a:endParaRPr lang="en-US" dirty="0"/>
          </a:p>
          <a:p>
            <a:r>
              <a:rPr lang="en-US" dirty="0"/>
              <a:t>With the AI explained, the next question is whether you can trust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Because this is AI making suggestions about people's lives, trust is built into the brain, with six guardrails.</a:t>
            </a:r>
            <a:endParaRPr lang="en-US" dirty="0"/>
          </a:p>
          <a:p>
            <a:r>
              <a:rPr lang="en-US" dirty="0"/>
              <a:t>Every message is screened for attempts to trick or jailbreak the model.</a:t>
            </a:r>
            <a:endParaRPr lang="en-US" dirty="0"/>
          </a:p>
          <a:p>
            <a:r>
              <a:rPr lang="en-US" dirty="0"/>
              <a:t>Quality is tested on every change, in every language.</a:t>
            </a:r>
            <a:endParaRPr lang="en-US" dirty="0"/>
          </a:p>
          <a:p>
            <a:r>
              <a:rPr lang="en-US" dirty="0"/>
              <a:t>Each agent is officially declared, its purpose, its risk, and its limits, in a register, exactly as the AI Act requires.</a:t>
            </a:r>
            <a:endParaRPr lang="en-US" dirty="0"/>
          </a:p>
          <a:p>
            <a:r>
              <a:rPr lang="en-US" dirty="0"/>
              <a:t>Every high-risk answer is sealed in a record that can't be altered.</a:t>
            </a:r>
            <a:endParaRPr lang="en-US" dirty="0"/>
          </a:p>
          <a:p>
            <a:r>
              <a:rPr lang="en-US" dirty="0"/>
              <a:t>No agent decides alone, because a human caseworker always has the final say.</a:t>
            </a:r>
            <a:endParaRPr lang="en-US" dirty="0"/>
          </a:p>
          <a:p>
            <a:r>
              <a:rPr lang="en-US" dirty="0"/>
              <a:t>And we never hide the AI, so people are told, on screen and on the phone, in their language, that they're dealing with a machine.</a:t>
            </a:r>
            <a:endParaRPr lang="en-US" dirty="0"/>
          </a:p>
          <a:p>
            <a:r>
              <a:rPr lang="en-US" dirty="0"/>
              <a:t>The high-risk agent even runs in a sealed enclave, where the data is protected from us, the operators, as well.</a:t>
            </a:r>
            <a:endParaRPr lang="en-US" dirty="0"/>
          </a:p>
          <a:p>
            <a:r>
              <a:rPr lang="en-US" dirty="0"/>
              <a:t>That leads straight into security and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0:12 — For a government system, this is the part I care about most.</a:t>
            </a:r>
            <a:endParaRPr lang="en-US" dirty="0"/>
          </a:p>
          <a:p>
            <a:r>
              <a:rPr lang="en-US" dirty="0"/>
              <a:t>The goal was simple to say and hard to do: make every promise provable.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On security, the rule was that no single wall should carry all the weight, so we built layers.</a:t>
            </a:r>
            <a:endParaRPr lang="en-US" dirty="0"/>
          </a:p>
          <a:p>
            <a:r>
              <a:rPr lang="en-US" dirty="0"/>
              <a:t>At the edge, a web firewall blocks the common attacks and the bots.</a:t>
            </a:r>
            <a:endParaRPr lang="en-US" dirty="0"/>
          </a:p>
          <a:p>
            <a:r>
              <a:rPr lang="en-US" dirty="0"/>
              <a:t>Underneath it, there's protection against attacks that try to flood the network.</a:t>
            </a:r>
            <a:endParaRPr lang="en-US" dirty="0"/>
          </a:p>
          <a:p>
            <a:r>
              <a:rPr lang="en-US" dirty="0"/>
              <a:t>Anything leaving the platform is checked against a list of allowed destinations, so it can't quietly phone home to a stranger.</a:t>
            </a:r>
            <a:endParaRPr lang="en-US" dirty="0"/>
          </a:p>
          <a:p>
            <a:r>
              <a:rPr lang="en-US" dirty="0"/>
              <a:t>And deep inside are the private connections, the identity checks, and the encryption already described.</a:t>
            </a:r>
            <a:endParaRPr lang="en-US" dirty="0"/>
          </a:p>
          <a:p>
            <a:r>
              <a:rPr lang="en-US" dirty="0"/>
              <a:t>If one layer ever fails, the next one still stands.</a:t>
            </a:r>
            <a:endParaRPr lang="en-US" dirty="0"/>
          </a:p>
          <a:p>
            <a:r>
              <a:rPr lang="en-US" dirty="0"/>
              <a:t>Two of these layers deserve a closer look: identity, and where the data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Two things decide whether a system like this is trustworthy: who gets in, and where the data sits.</a:t>
            </a:r>
            <a:endParaRPr lang="en-US" dirty="0"/>
          </a:p>
          <a:p>
            <a:r>
              <a:rPr lang="en-US" dirty="0"/>
              <a:t>For who gets in, each country has its own identity system, and people sign in with their national eID through a certified broker, so we never see a password.</a:t>
            </a:r>
            <a:endParaRPr lang="en-US" dirty="0"/>
          </a:p>
          <a:p>
            <a:r>
              <a:rPr lang="en-US" dirty="0"/>
              <a:t>We also support the new European Digital Identity Wallet, for carrying identity across borders.</a:t>
            </a:r>
            <a:endParaRPr lang="en-US" dirty="0"/>
          </a:p>
          <a:p>
            <a:r>
              <a:rPr lang="en-US" dirty="0"/>
              <a:t>For where the data sits, everything stays in-country.</a:t>
            </a:r>
            <a:endParaRPr lang="en-US" dirty="0"/>
          </a:p>
          <a:p>
            <a:r>
              <a:rPr lang="en-US" dirty="0"/>
              <a:t>The live record, the write-once documents, the conversations, the knowledge base and the analytics never leave.</a:t>
            </a:r>
            <a:endParaRPr lang="en-US" dirty="0"/>
          </a:p>
          <a:p>
            <a:r>
              <a:rPr lang="en-US" dirty="0"/>
              <a:t>Each country holds its own encryption keys, everything is encrypted in transit, and there's no public way into the data at all.</a:t>
            </a:r>
            <a:endParaRPr lang="en-US" dirty="0"/>
          </a:p>
          <a:p>
            <a:r>
              <a:rPr lang="en-US" dirty="0"/>
              <a:t>That's deliberate, not lucky.</a:t>
            </a:r>
            <a:endParaRPr lang="en-US" dirty="0"/>
          </a:p>
          <a:p>
            <a:r>
              <a:rPr lang="en-US" dirty="0"/>
              <a:t>And it's only half the story; the other half is the 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1:05 — People ask how we made this compliant, and the honest answer is that we worked backwards, because we started from the law, not from the features.</a:t>
            </a:r>
            <a:endParaRPr lang="en-US" dirty="0"/>
          </a:p>
          <a:p>
            <a:r>
              <a:rPr lang="en-US" dirty="0"/>
              <a:t>When you look closely, eight European laws touch a single voice call at the same time.</a:t>
            </a:r>
            <a:endParaRPr lang="en-US" dirty="0"/>
          </a:p>
          <a:p>
            <a:r>
              <a:rPr lang="en-US" dirty="0"/>
              <a:t>There's data protection, under GDPR, the General Data Protection Regulation.</a:t>
            </a:r>
            <a:endParaRPr lang="en-US" dirty="0"/>
          </a:p>
          <a:p>
            <a:r>
              <a:rPr lang="en-US" dirty="0"/>
              <a:t>There's electronic identity, under a rule called eIDAS.</a:t>
            </a:r>
            <a:endParaRPr lang="en-US" dirty="0"/>
          </a:p>
          <a:p>
            <a:r>
              <a:rPr lang="en-US" dirty="0"/>
              <a:t>There's cybersecurity, under a directive called NIS2.</a:t>
            </a:r>
            <a:endParaRPr lang="en-US" dirty="0"/>
          </a:p>
          <a:p>
            <a:r>
              <a:rPr lang="en-US" dirty="0"/>
              <a:t>There's accessibility law.</a:t>
            </a:r>
            <a:endParaRPr lang="en-US" dirty="0"/>
          </a:p>
          <a:p>
            <a:r>
              <a:rPr lang="en-US" dirty="0"/>
              <a:t>And there's the AI Act.</a:t>
            </a:r>
            <a:endParaRPr lang="en-US" dirty="0"/>
          </a:p>
          <a:p>
            <a:r>
              <a:rPr lang="en-US" dirty="0"/>
              <a:t>So we took each obligation, from each of those laws, and turned it into a concrete control in the code, with evidence behind it.</a:t>
            </a:r>
            <a:endParaRPr lang="en-US" dirty="0"/>
          </a:p>
          <a:p>
            <a:r>
              <a:rPr lang="en-US" dirty="0"/>
              <a:t>And one trace number ties it all together, following an interaction from the browser to the model and back, kept for two years.</a:t>
            </a:r>
            <a:endParaRPr lang="en-US" dirty="0"/>
          </a:p>
          <a:p>
            <a:r>
              <a:rPr lang="en-US" dirty="0"/>
              <a:t>So compliance here isn't a binder on a shelf; it's wired into the system.</a:t>
            </a:r>
            <a:endParaRPr lang="en-US" dirty="0"/>
          </a:p>
          <a:p>
            <a:r>
              <a:rPr lang="en-US" dirty="0"/>
              <a:t>Let me make the AI Act part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0:55 — The AI Act is easy to mention and hard to show, so here is exactly how we meet it.</a:t>
            </a:r>
            <a:endParaRPr lang="en-US" dirty="0"/>
          </a:p>
          <a:p>
            <a:r>
              <a:rPr lang="en-US" dirty="0"/>
              <a:t>It requires automatic records for at least six months for a high-risk system, and we keep two full years, more than double.</a:t>
            </a:r>
            <a:endParaRPr lang="en-US" dirty="0"/>
          </a:p>
          <a:p>
            <a:r>
              <a:rPr lang="en-US" dirty="0"/>
              <a:t>It requires transparency about each AI part, so every agent has a written entry.</a:t>
            </a:r>
            <a:endParaRPr lang="en-US" dirty="0"/>
          </a:p>
          <a:p>
            <a:r>
              <a:rPr lang="en-US" dirty="0"/>
              <a:t>It requires a human in control, so the caseworker confirms every decision.</a:t>
            </a:r>
            <a:endParaRPr lang="en-US" dirty="0"/>
          </a:p>
          <a:p>
            <a:r>
              <a:rPr lang="en-US" dirty="0"/>
              <a:t>It names access to essential public services as high risk, which is why we flagged the eligibility agent.</a:t>
            </a:r>
            <a:endParaRPr lang="en-US" dirty="0"/>
          </a:p>
          <a:p>
            <a:r>
              <a:rPr lang="en-US" dirty="0"/>
              <a:t>And it requires telling people when AI is used, so we do, in writing and out loud, in their language.</a:t>
            </a:r>
            <a:endParaRPr lang="en-US" dirty="0"/>
          </a:p>
          <a:p>
            <a:r>
              <a:rPr lang="en-US" dirty="0"/>
              <a:t>Every line of the law has a matching line in the system.</a:t>
            </a:r>
            <a:endParaRPr lang="en-US" dirty="0"/>
          </a:p>
          <a:p>
            <a:r>
              <a:rPr lang="en-US" dirty="0"/>
              <a:t>Theory is one thing, so let me show you two real moments.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 — The first is an attack.</a:t>
            </a:r>
            <a:endParaRPr lang="en-US" dirty="0"/>
          </a:p>
          <a:p>
            <a:r>
              <a:rPr lang="en-US" dirty="0"/>
              <a:t>Imagine a message crafted to trick the AI into revealing its hidden instructions, or quietly changing an eligibility result — that is called a prompt injection.</a:t>
            </a:r>
            <a:endParaRPr lang="en-US" dirty="0"/>
          </a:p>
          <a:p>
            <a:r>
              <a:rPr lang="en-US" dirty="0"/>
              <a:t>Three independent tools stop it.</a:t>
            </a:r>
            <a:endParaRPr lang="en-US" dirty="0"/>
          </a:p>
          <a:p>
            <a:r>
              <a:rPr lang="en-US" dirty="0"/>
              <a:t>Azure API Management, the gateway, spots the strange token rate and blocks the data leak.</a:t>
            </a:r>
            <a:endParaRPr lang="en-US" dirty="0"/>
          </a:p>
          <a:p>
            <a:r>
              <a:rPr lang="en-US" dirty="0"/>
              <a:t>Azure AI Content Safety, with its jailbreak detector, recognises the trick and opens a security incident.</a:t>
            </a:r>
            <a:endParaRPr lang="en-US" dirty="0"/>
          </a:p>
          <a:p>
            <a:r>
              <a:rPr lang="en-US" dirty="0"/>
              <a:t>And our own fixed eligibility rule simply refuses the request before any model runs.</a:t>
            </a:r>
            <a:endParaRPr lang="en-US" dirty="0"/>
          </a:p>
          <a:p>
            <a:r>
              <a:rPr lang="en-US" dirty="0"/>
              <a:t>Then the platform isolates the session, brings the real citizen back, and saves the evidence — and no citizen data is ever exposed.</a:t>
            </a:r>
            <a:endParaRPr lang="en-US" dirty="0"/>
          </a:p>
          <a:p>
            <a:r>
              <a:rPr lang="en-US" dirty="0"/>
              <a:t>The second moment is the opposite: not an attack, but an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Six months after a decision, a regulator asks the hardest question there is: why did the system propose this, back then?</a:t>
            </a:r>
            <a:endParaRPr lang="en-US" dirty="0"/>
          </a:p>
          <a:p>
            <a:r>
              <a:rPr lang="en-US" dirty="0"/>
              <a:t>In most places, that's a moment of panic.</a:t>
            </a:r>
            <a:endParaRPr lang="en-US" dirty="0"/>
          </a:p>
          <a:p>
            <a:r>
              <a:rPr lang="en-US" dirty="0"/>
              <a:t>Here, it's a lookup.</a:t>
            </a:r>
            <a:endParaRPr lang="en-US" dirty="0"/>
          </a:p>
          <a:p>
            <a:r>
              <a:rPr lang="en-US" dirty="0"/>
              <a:t>The privacy officer takes the single trace number for that case and rebuilds the whole decision.</a:t>
            </a:r>
            <a:endParaRPr lang="en-US" dirty="0"/>
          </a:p>
          <a:p>
            <a:r>
              <a:rPr lang="en-US" dirty="0"/>
              <a:t>That includes which model ran, what it answered, what the caseworker did with it, and a sealed proof that nothing has changed since.</a:t>
            </a:r>
            <a:endParaRPr lang="en-US" dirty="0"/>
          </a:p>
          <a:p>
            <a:r>
              <a:rPr lang="en-US" dirty="0"/>
              <a:t>And from the question to a complete, signed audit file takes under ten minutes.</a:t>
            </a:r>
            <a:endParaRPr lang="en-US" dirty="0"/>
          </a:p>
          <a:p>
            <a:r>
              <a:rPr lang="en-US" dirty="0"/>
              <a:t>That is what provable compliance actually means.</a:t>
            </a:r>
            <a:endParaRPr lang="en-US" dirty="0"/>
          </a:p>
          <a:p>
            <a:r>
              <a:rPr lang="en-US" dirty="0"/>
              <a:t>Once it's all running, of course, we still have to watch it and pay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0:18 — A quick word on operations — how we watch the platform and its cost without breaking the walls between countries.</a:t>
            </a:r>
            <a:endParaRPr lang="en-US" dirty="0"/>
          </a:p>
          <a:p>
            <a:r>
              <a:rPr lang="en-US" dirty="0"/>
              <a:t>Monitoring rests on per-country pillars: separate logs that are never merged, one trace number that follows a request end-to-end, continuous AI-quality checks and sealed AI Act evidence — the full pillar map is in the annex.</a:t>
            </a:r>
            <a:endParaRPr lang="en-US" dirty="0"/>
          </a:p>
          <a:p>
            <a:r>
              <a:rPr lang="en-US" dirty="0"/>
              <a:t>The one view that needs real care is the cross-country picture, because it has to span all three countries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A leader has to answer for results across the whole programme, but can't be allowed to see individual citizens, because that would break everything we just built.</a:t>
            </a:r>
            <a:endParaRPr lang="en-US" dirty="0"/>
          </a:p>
          <a:p>
            <a:r>
              <a:rPr lang="en-US" dirty="0"/>
              <a:t>So the answer is a single shared view where the names and the case files have already been stripped away.</a:t>
            </a:r>
            <a:endParaRPr lang="en-US" dirty="0"/>
          </a:p>
          <a:p>
            <a:r>
              <a:rPr lang="en-US" dirty="0"/>
              <a:t>Only anonymous, combined numbers ever leave each country, gathered into Microsoft Fabric and shown in Power BI, refreshed every hour.</a:t>
            </a:r>
            <a:endParaRPr lang="en-US" dirty="0"/>
          </a:p>
          <a:p>
            <a:r>
              <a:rPr lang="en-US" dirty="0"/>
              <a:t>The view shows roughly twelve thousand cases this month, and the median time down to four days from twenty-eight.</a:t>
            </a:r>
            <a:endParaRPr lang="en-US" dirty="0"/>
          </a:p>
          <a:p>
            <a:r>
              <a:rPr lang="en-US" dirty="0"/>
              <a:t>Satisfaction sits at four and a half out of five, and the processing time keeps falling quarter after quarter.</a:t>
            </a:r>
            <a:endParaRPr lang="en-US" dirty="0"/>
          </a:p>
          <a:p>
            <a:r>
              <a:rPr lang="en-US" dirty="0"/>
              <a:t>So leadership gets the full picture, and privacy stays completely intact.</a:t>
            </a:r>
            <a:endParaRPr lang="en-US" dirty="0"/>
          </a:p>
          <a:p>
            <a:r>
              <a:rPr lang="en-US" dirty="0"/>
              <a:t>The other operational concern is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AI can get expensive fast, so we treat it like any other budget.</a:t>
            </a:r>
            <a:endParaRPr lang="en-US" dirty="0"/>
          </a:p>
          <a:p>
            <a:r>
              <a:rPr lang="en-US" dirty="0"/>
              <a:t>Every resource is labelled by country, by workload, and by cost centre, so each ministry sees exactly what it spends.</a:t>
            </a:r>
            <a:endParaRPr lang="en-US" dirty="0"/>
          </a:p>
          <a:p>
            <a:r>
              <a:rPr lang="en-US" dirty="0"/>
              <a:t>Every agent gets a monthly budget of tokens — the unit you pay for with AI — written into the code.</a:t>
            </a:r>
            <a:endParaRPr lang="en-US" dirty="0"/>
          </a:p>
          <a:p>
            <a:r>
              <a:rPr lang="en-US" dirty="0"/>
              <a:t>If a change would blow that budget, the build fails before it ships.</a:t>
            </a:r>
            <a:endParaRPr lang="en-US" dirty="0"/>
          </a:p>
          <a:p>
            <a:r>
              <a:rPr lang="en-US" dirty="0"/>
              <a:t>We reserve capacity for the steady work, pay only for the spikes, and get a warning the moment cost jumps.</a:t>
            </a:r>
            <a:endParaRPr lang="en-US" dirty="0"/>
          </a:p>
          <a:p>
            <a:r>
              <a:rPr lang="en-US" dirty="0"/>
              <a:t>So there's no surprise invoice at the end of the month.</a:t>
            </a:r>
            <a:endParaRPr lang="en-US" dirty="0"/>
          </a:p>
          <a:p>
            <a:r>
              <a:rPr lang="en-US" dirty="0"/>
              <a:t>Cost is one promise; speed and uptime are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0:12 — Underneath everything is a quieter promise, that the platform stays fast, and stays up, even when something breaks.</a:t>
            </a:r>
            <a:endParaRPr lang="en-US" dirty="0"/>
          </a:p>
          <a:p>
            <a:r>
              <a:rPr lang="en-US" dirty="0"/>
              <a:t>Here is how we keep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We set the targets out loud, and then we test them.</a:t>
            </a:r>
            <a:endParaRPr lang="en-US" dirty="0"/>
          </a:p>
          <a:p>
            <a:r>
              <a:rPr lang="en-US" dirty="0"/>
              <a:t>The website should be available almost all the time, and we aim for ninety-nine point nine percent in every country.</a:t>
            </a:r>
            <a:endParaRPr lang="en-US" dirty="0"/>
          </a:p>
          <a:p>
            <a:r>
              <a:rPr lang="en-US" dirty="0"/>
              <a:t>A phone call should be answered within two seconds, and it is, for almost every call.</a:t>
            </a:r>
            <a:endParaRPr lang="en-US" dirty="0"/>
          </a:p>
          <a:p>
            <a:r>
              <a:rPr lang="en-US" dirty="0"/>
              <a:t>If something serious ever fails, we should lose at most fifteen minutes of data, and be back within four hours, in a backup European region.</a:t>
            </a:r>
            <a:endParaRPr lang="en-US" dirty="0"/>
          </a:p>
          <a:p>
            <a:r>
              <a:rPr lang="en-US" dirty="0"/>
              <a:t>And we don't just hope those numbers hold.</a:t>
            </a:r>
            <a:endParaRPr lang="en-US" dirty="0"/>
          </a:p>
          <a:p>
            <a:r>
              <a:rPr lang="en-US" dirty="0"/>
              <a:t>Each country runs a hot standby that takes over in minutes.</a:t>
            </a:r>
            <a:endParaRPr lang="en-US" dirty="0"/>
          </a:p>
          <a:p>
            <a:r>
              <a:rPr lang="en-US" dirty="0"/>
              <a:t>We back everything up, in every country.</a:t>
            </a:r>
            <a:endParaRPr lang="en-US" dirty="0"/>
          </a:p>
          <a:p>
            <a:r>
              <a:rPr lang="en-US" dirty="0"/>
              <a:t>And we break things on purpose — knocking out a region, cutting a network, failing a database.</a:t>
            </a:r>
            <a:endParaRPr lang="en-US" dirty="0"/>
          </a:p>
          <a:p>
            <a:r>
              <a:rPr lang="en-US" dirty="0"/>
              <a:t>We do it every month in test and every quarter in production, so the real failure, when it comes, is one we've already rehearsed.</a:t>
            </a:r>
            <a:endParaRPr lang="en-US" dirty="0"/>
          </a:p>
          <a:p>
            <a:r>
              <a:rPr lang="en-US" dirty="0"/>
              <a:t>There's one more thing worth showing, about how the platform was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0:12 — This part surprised even us.</a:t>
            </a:r>
            <a:endParaRPr lang="en-US" dirty="0"/>
          </a:p>
          <a:p>
            <a:r>
              <a:rPr lang="en-US" dirty="0"/>
              <a:t>We didn't build the platform the way you might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 — We didn't write this by hand, file by file, over months — we built it with a swarm of AI agents working together.</a:t>
            </a:r>
            <a:endParaRPr lang="en-US" dirty="0"/>
          </a:p>
          <a:p>
            <a:r>
              <a:rPr lang="en-US" dirty="0"/>
              <a:t>There were three campaigns: a build, a clean-up after review, then round after round of audits.</a:t>
            </a:r>
            <a:endParaRPr lang="en-US" dirty="0"/>
          </a:p>
          <a:p>
            <a:r>
              <a:rPr lang="en-US" dirty="0"/>
              <a:t>Six specialist agents each took a separate part of the code, with no overlap, and worked at the same time — about five times faster than one could alone.</a:t>
            </a:r>
            <a:endParaRPr lang="en-US" dirty="0"/>
          </a:p>
          <a:p>
            <a:r>
              <a:rPr lang="en-US" dirty="0"/>
              <a:t>After each audit they fixed what they found, and it took twenty-four rounds before one came back completely clean.</a:t>
            </a:r>
            <a:endParaRPr lang="en-US" dirty="0"/>
          </a:p>
          <a:p>
            <a:r>
              <a:rPr lang="en-US" dirty="0"/>
              <a:t>In the end they produced eight hundred and sixty-eight files.</a:t>
            </a:r>
            <a:endParaRPr lang="en-US" dirty="0"/>
          </a:p>
          <a:p>
            <a:r>
              <a:rPr lang="en-US" dirty="0"/>
              <a:t>And the proof it holds together is simple: the whole platform installs with one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 — And all of it lives in one place — a single public repository you can open right now.</a:t>
            </a:r>
            <a:endParaRPr lang="en-US" dirty="0"/>
          </a:p>
          <a:p>
            <a:r>
              <a:rPr lang="en-US" dirty="0"/>
              <a:t>The story starts in the documents, not the code.</a:t>
            </a:r>
            <a:endParaRPr lang="en-US" dirty="0"/>
          </a:p>
          <a:p>
            <a:r>
              <a:rPr lang="en-US" dirty="0"/>
              <a:t>Under docs-slash-biz is the business side: who we build for, every channel, the data and compliance rules, and an acceptance recipe for what "done" means.</a:t>
            </a:r>
            <a:endParaRPr lang="en-US" dirty="0"/>
          </a:p>
          <a:p>
            <a:r>
              <a:rPr lang="en-US" dirty="0"/>
              <a:t>Under docs-slash-tech is the engineering: the architecture, the data model, the network design, the install guide and a disaster-recovery runbook.</a:t>
            </a:r>
            <a:endParaRPr lang="en-US" dirty="0"/>
          </a:p>
          <a:p>
            <a:r>
              <a:rPr lang="en-US" dirty="0"/>
              <a:t>The infra folder holds the Bicep, and the scripts folder holds the installer.</a:t>
            </a:r>
            <a:endParaRPr lang="en-US" dirty="0"/>
          </a:p>
          <a:p>
            <a:r>
              <a:rPr lang="en-US" dirty="0"/>
              <a:t>It's at a short address, aka.ms-slash-UDCSP — everything I'm claiming today, you can check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0:35 — So how do we actually ship all of this? With one idempotent command.</a:t>
            </a:r>
            <a:endParaRPr lang="en-US" dirty="0"/>
          </a:p>
          <a:p>
            <a:r>
              <a:rPr lang="en-US" dirty="0"/>
              <a:t>The same script checks the prerequisites, signs in to Azure, registers the identity app, builds the code and runs the tests.</a:t>
            </a:r>
            <a:endParaRPr lang="en-US" dirty="0"/>
          </a:p>
          <a:p>
            <a:r>
              <a:rPr lang="en-US" dirty="0"/>
              <a:t>Then it provisions every Azure resource as code, with Bicep.</a:t>
            </a:r>
            <a:endParaRPr lang="en-US" dirty="0"/>
          </a:p>
          <a:p>
            <a:r>
              <a:rPr lang="en-US" dirty="0"/>
              <a:t>Idempotent means you can run it again safely: it reuses what already exists, and never creates a duplicate.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0:35 — The same run then deploys the application, generates the production manifest, and wires the redirect addresses and the access roles — RBAC, role-based access control.</a:t>
            </a:r>
            <a:endParaRPr lang="en-US" dirty="0"/>
          </a:p>
          <a:p>
            <a:r>
              <a:rPr lang="en-US" dirty="0"/>
              <a:t>It ends with a clear Deployment Complete and a full summary of every resource and URL.</a:t>
            </a:r>
            <a:endParaRPr lang="en-US" dirty="0"/>
          </a:p>
          <a:p>
            <a:r>
              <a:rPr lang="en-US" dirty="0"/>
              <a:t>And the very same script runs in our pipeline on every change, so a deploy is always repeatable, never done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0:12 — This one we genuinely did not plan.</a:t>
            </a:r>
            <a:endParaRPr lang="en-US" dirty="0"/>
          </a:p>
          <a:p>
            <a:r>
              <a:rPr lang="en-US" dirty="0"/>
              <a:t>It happened a few weeks ago, and it turned into a useful reality check on the whole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Quick fun story to finish.</a:t>
            </a:r>
            <a:endParaRPr lang="en-US" dirty="0"/>
          </a:p>
          <a:p>
            <a:r>
              <a:rPr lang="en-US" dirty="0"/>
              <a:t>A few weeks ago I re-registered a car, and had to log in to France Titres, the official French government portal.</a:t>
            </a:r>
            <a:endParaRPr lang="en-US" dirty="0"/>
          </a:p>
          <a:p>
            <a:r>
              <a:rPr lang="en-US" dirty="0"/>
              <a:t>I'd never opened it while we were building UDCSP.</a:t>
            </a:r>
            <a:endParaRPr lang="en-US" dirty="0"/>
          </a:p>
          <a:p>
            <a:r>
              <a:rPr lang="en-US" dirty="0"/>
              <a:t>And there it was: the same single front door, the same service cards, even the same little assistant in the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0:35 — The sign-in matched too.</a:t>
            </a:r>
            <a:endParaRPr lang="en-US" dirty="0"/>
          </a:p>
          <a:p>
            <a:r>
              <a:rPr lang="en-US" dirty="0"/>
              <a:t>France Titres uses FranceConnect and the France Identité app, with an EU cross-border identity marked "coming soon" — pick your country, then your national eID.</a:t>
            </a:r>
            <a:endParaRPr lang="en-US" dirty="0"/>
          </a:p>
          <a:p>
            <a:r>
              <a:rPr lang="en-US" dirty="0"/>
              <a:t>That is our exact model: a national eID, plus the EU wallet for crossing borders.</a:t>
            </a:r>
            <a:endParaRPr lang="en-US" dirty="0"/>
          </a:p>
          <a:p>
            <a:r>
              <a:rPr lang="en-US" dirty="0"/>
              <a:t>We designed it months before I ever saw the French version — and that is genuinely the fun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0:15 — Before the demo, the honest scorecard.</a:t>
            </a:r>
            <a:endParaRPr lang="en-US" dirty="0"/>
          </a:p>
          <a:p>
            <a:r>
              <a:rPr lang="en-US" dirty="0"/>
              <a:t>Here is every headline capability with its label, and then the four gates that take the blueprint bricks to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0:55 — This is the whole submission on one slide.</a:t>
            </a:r>
            <a:endParaRPr lang="en-US" dirty="0"/>
          </a:p>
          <a:p>
            <a:r>
              <a:rPr lang="en-US" dirty="0"/>
              <a:t>The green and blue rows run today or are merged and tested: unified identity, twelve-language accessibility, the assistant across web, mobile and voice, the cross-border pre-fill, the eligibility decision with a human in the loop, and the one-command deploy.</a:t>
            </a:r>
            <a:endParaRPr lang="en-US" dirty="0"/>
          </a:p>
          <a:p>
            <a:r>
              <a:rPr lang="en-US" dirty="0"/>
              <a:t>The orange parts are blueprint: the full cross-border saga, live confidential compute, the immutable ledger and the Fabric capacity — designed and registered, waiting on a tenant capacity or a licence.</a:t>
            </a:r>
            <a:endParaRPr lang="en-US" dirty="0"/>
          </a:p>
          <a:p>
            <a:r>
              <a:rPr lang="en-US" dirty="0"/>
              <a:t>Nothing here is hand-waved; every label is backed by code or a script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Here is how the blueprint becomes live, in four gates over about twenty weeks.</a:t>
            </a:r>
            <a:endParaRPr lang="en-US" dirty="0"/>
          </a:p>
          <a:p>
            <a:r>
              <a:rPr lang="en-US" dirty="0"/>
              <a:t>Gate one, weeks one to two: validate the tenant — the model deployments, the Fabric capacity and the DDoS plan.</a:t>
            </a:r>
            <a:endParaRPr lang="en-US" dirty="0"/>
          </a:p>
          <a:p>
            <a:r>
              <a:rPr lang="en-US" dirty="0"/>
              <a:t>Gate two, weeks three to six: switch eligibility onto live confidential compute, which flips demo six to live.</a:t>
            </a:r>
            <a:endParaRPr lang="en-US" dirty="0"/>
          </a:p>
          <a:p>
            <a:r>
              <a:rPr lang="en-US" dirty="0"/>
              <a:t>Gate three, weeks six to fourteen: sign the partner-agency agreements and stand up the production hub, so demo one talks to a real authority.</a:t>
            </a:r>
            <a:endParaRPr lang="en-US" dirty="0"/>
          </a:p>
          <a:p>
            <a:r>
              <a:rPr lang="en-US" dirty="0"/>
              <a:t>Gate four, weeks fourteen to twenty: bring in Dynamics 365 with Copilot for Service and repoint the writes, flipping demo five.</a:t>
            </a:r>
            <a:endParaRPr lang="en-US" dirty="0"/>
          </a:p>
          <a:p>
            <a:r>
              <a:rPr lang="en-US" dirty="0"/>
              <a:t>Each gate ships on its own — the platform is useful after every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0:12 — So let's move to the demo, about ten minutes, live, on a real Azure tenant.</a:t>
            </a:r>
            <a:endParaRPr lang="en-US" dirty="0"/>
          </a:p>
          <a:p>
            <a:r>
              <a:rPr lang="en-US" dirty="0"/>
              <a:t>First the plan, then the live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The demo runs five short scenes.</a:t>
            </a:r>
            <a:endParaRPr lang="en-US" dirty="0"/>
          </a:p>
          <a:p>
            <a:r>
              <a:rPr lang="en-US" dirty="0"/>
              <a:t>First, a cross-border move from Denmark to Sweden: sign in, upload a passport and a lease, watch the AI read and translate them and propose a result, consent, and the case crosses the border.</a:t>
            </a:r>
            <a:endParaRPr lang="en-US" dirty="0"/>
          </a:p>
          <a:p>
            <a:r>
              <a:rPr lang="en-US" dirty="0"/>
              <a:t>Then the one I most want you to see: a blind citizen calls a real phone number, and the AI answers in Norwegian and runs the call itself.</a:t>
            </a:r>
            <a:endParaRPr lang="en-US" dirty="0"/>
          </a:p>
          <a:p>
            <a:r>
              <a:rPr lang="en-US" dirty="0"/>
              <a:t>After that, the whole portal in Polish, with a screen reader.</a:t>
            </a:r>
            <a:endParaRPr lang="en-US" dirty="0"/>
          </a:p>
          <a:p>
            <a:r>
              <a:rPr lang="en-US" dirty="0"/>
              <a:t>Then a payslip photographed on an iPhone.</a:t>
            </a:r>
            <a:endParaRPr lang="en-US" dirty="0"/>
          </a:p>
          <a:p>
            <a:r>
              <a:rPr lang="en-US" dirty="0"/>
              <a:t>And finally, the entire platform stood up from nothing with a single command.</a:t>
            </a:r>
            <a:endParaRPr lang="en-US" dirty="0"/>
          </a:p>
          <a:p>
            <a:r>
              <a:rPr lang="en-US" dirty="0"/>
              <a:t>Let me switch to the live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 — That single command isn't a demo trick; it's how we really ship.</a:t>
            </a:r>
            <a:endParaRPr lang="en-US" dirty="0"/>
          </a:p>
          <a:p>
            <a:r>
              <a:rPr lang="en-US" dirty="0"/>
              <a:t>You clone the repository, run one script, and it builds twenty-five stages in order, from network, identity, security, and data, through the gateway, the AI, the case system, the front end, and the voice line, all the way to governance.</a:t>
            </a:r>
            <a:endParaRPr lang="en-US" dirty="0"/>
          </a:p>
          <a:p>
            <a:r>
              <a:rPr lang="en-US" dirty="0"/>
              <a:t>At the end it runs its own health checks, and the same script runs automatically on every code change.</a:t>
            </a:r>
            <a:endParaRPr lang="en-US" dirty="0"/>
          </a:p>
          <a:p>
            <a:r>
              <a:rPr lang="en-US" dirty="0"/>
              <a:t>So this isn't a fragile demo machine; it's a platform we can rebuild from scratch, on demand.</a:t>
            </a:r>
            <a:endParaRPr lang="en-US" dirty="0"/>
          </a:p>
          <a:p>
            <a:r>
              <a:rPr lang="en-US" dirty="0"/>
              <a:t>Let me bring it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 — That's UDCSP: a production accelerator — a working core you can run today, with a named path to production.</a:t>
            </a:r>
            <a:endParaRPr lang="en-US" dirty="0"/>
          </a:p>
          <a:p>
            <a:r>
              <a:rPr lang="en-US" dirty="0"/>
              <a:t>Three sovereign countries, seven AI agents, and one private path from the first click to the caseworker.</a:t>
            </a:r>
            <a:endParaRPr lang="en-US" dirty="0"/>
          </a:p>
          <a:p>
            <a:r>
              <a:rPr lang="en-US" dirty="0"/>
              <a:t>Every decision tied to a law, and every claim labelled and provable on a real Azure tenant.</a:t>
            </a:r>
            <a:endParaRPr lang="en-US" dirty="0"/>
          </a:p>
          <a:p>
            <a:r>
              <a:rPr lang="en-US" dirty="0"/>
              <a:t>It was built by a swarm of AI agents in under an hour, and quietly confirmed by a real government portal we stumbled into by accident.</a:t>
            </a:r>
            <a:endParaRPr lang="en-US" dirty="0"/>
          </a:p>
          <a:p>
            <a:r>
              <a:rPr lang="en-US" dirty="0"/>
              <a:t>And the headline is the number that matters most: a cross-border case went from twenty-eight days to four.</a:t>
            </a:r>
            <a:endParaRPr lang="en-US" dirty="0"/>
          </a:p>
          <a:p>
            <a:r>
              <a:rPr lang="en-US" dirty="0"/>
              <a:t>Thank you.</a:t>
            </a:r>
            <a:endParaRPr lang="en-US" dirty="0"/>
          </a:p>
          <a:p>
            <a:r>
              <a:rPr lang="en-US" dirty="0"/>
              <a:t>I'm happy to take your questions, and then run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0:20 — I'll leave these screens up for reference, and for your questions.</a:t>
            </a:r>
            <a:endParaRPr lang="en-US" dirty="0"/>
          </a:p>
          <a:p>
            <a:r>
              <a:rPr lang="en-US" dirty="0"/>
              <a:t>They cover the whole journey, from the home page and the assistant, to the residency form, the cross-border result, the compliance view, and the sign-in.</a:t>
            </a:r>
            <a:endParaRPr lang="en-US" dirty="0"/>
          </a:p>
          <a:p>
            <a:r>
              <a:rPr lang="en-US" dirty="0"/>
              <a:t>One app, twelve languages, three ways in.</a:t>
            </a:r>
            <a:endParaRPr lang="en-US" dirty="0"/>
          </a:p>
          <a:p>
            <a:r>
              <a:rPr lang="en-US" dirty="0"/>
              <a:t>I'm happy to open any of them while we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0:10 — Reference: the full private network behind the simplified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0:10 — Reference: the six monitoring pillars behind the central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Digital&lt;br&gt;Citizen Services Platform.</dc:title>
  <dc:subject>PptxGenJS Presentation</dc:subject>
  <dc:creator>Created by Marp</dc:creator>
  <cp:lastModifiedBy>Created by Marp</cp:lastModifiedBy>
  <cp:revision>1</cp:revision>
  <dcterms:created xsi:type="dcterms:W3CDTF">2026-06-09T13:34:30Z</dcterms:created>
  <dcterms:modified xsi:type="dcterms:W3CDTF">2026-06-09T13:34:30Z</dcterms:modified>
</cp:coreProperties>
</file>